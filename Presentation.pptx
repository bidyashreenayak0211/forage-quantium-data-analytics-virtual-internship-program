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Roboto" panose="02000000000000000000" pitchFamily="2" charset="0"/>
      <p:regular r:id="rId14"/>
      <p:bold r:id="rId15"/>
      <p:italic r:id="rId16"/>
      <p:boldItalic r:id="rId17"/>
    </p:embeddedFont>
    <p:embeddedFont>
      <p:font typeface="Roboto Light" panose="02000000000000000000" pitchFamily="2" charset="0"/>
      <p:regular r:id="rId18"/>
      <p:italic r:id="rId19"/>
    </p:embeddedFont>
    <p:embeddedFont>
      <p:font typeface="Roboto Medium" panose="02000000000000000000" pitchFamily="2" charset="0"/>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94" autoAdjust="0"/>
    <p:restoredTop sz="91283" autoAdjust="0"/>
  </p:normalViewPr>
  <p:slideViewPr>
    <p:cSldViewPr snapToGrid="0" showGuides="1">
      <p:cViewPr varScale="1">
        <p:scale>
          <a:sx n="65" d="100"/>
          <a:sy n="65" d="100"/>
        </p:scale>
        <p:origin x="1194" y="72"/>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12/02/2025</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r>
              <a:rPr lang="en-AU" sz="1400">
                <a:latin typeface="Roboto" panose="02000000000000000000" pitchFamily="2" charset="0"/>
                <a:ea typeface="Roboto" panose="02000000000000000000" pitchFamily="2" charset="0"/>
                <a:cs typeface="Roboto" panose="02000000000000000000" pitchFamily="2" charset="0"/>
              </a:rPr>
              <a:t>Chips Category Review</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Store Analysis</a:t>
            </a: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6"/>
            <a:ext cx="7580989" cy="1925687"/>
          </a:xfrm>
          <a:prstGeom prst="rect">
            <a:avLst/>
          </a:prstGeom>
          <a:noFill/>
        </p:spPr>
        <p:txBody>
          <a:bodyPr wrap="square" lIns="0" tIns="0" rIns="0" bIns="0" rtlCol="0" anchor="t">
            <a:noAutofit/>
          </a:bodyPr>
          <a:lstStyle/>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The Mainstream category of Young and Mid-age Singles/Couples have the highest spending of chips per purchase.</a:t>
            </a:r>
          </a:p>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The Older Families(Budget) have the highest frequency of purchase followed by Young Singles/Couples (Mainstream) and at last Retirees (Mainstream) contributing to a total 25% sales revenue.</a:t>
            </a:r>
          </a:p>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Chips Brand Kettle is the most purchased brand in all stores.</a:t>
            </a:r>
          </a:p>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Young and Mid-age Singles/Couples is the only segment having Doritos as the highest purchase brand while Smiths is for other segments.</a:t>
            </a:r>
          </a:p>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Most frequent chip size purchased is 175 gr followed by 150 gr size for all segments.</a:t>
            </a:r>
          </a:p>
          <a:p>
            <a:pPr marL="171450" indent="-171450" algn="l">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Chips transactions increase a lot before Christmas which can be an advantage with the help of promotional offers.</a:t>
            </a:r>
          </a:p>
          <a:p>
            <a:pPr algn="l"/>
            <a:endParaRPr lang="en-AU" sz="1200" dirty="0">
              <a:latin typeface="Roboto Light" panose="02000000000000000000" pitchFamily="2" charset="0"/>
              <a:ea typeface="Roboto Light"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pPr marL="171450" indent="-171450">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Trial stores 77 and 86 have significant increase in total sales and number of customers during trial as compared to control store.</a:t>
            </a:r>
          </a:p>
          <a:p>
            <a:pPr marL="171450" indent="-171450">
              <a:buFont typeface="Arial" panose="020B0604020202020204" pitchFamily="34" charset="0"/>
              <a:buChar char="•"/>
            </a:pPr>
            <a:r>
              <a:rPr lang="en-AU" sz="1200" dirty="0">
                <a:latin typeface="Roboto Light" panose="02000000000000000000" pitchFamily="2" charset="0"/>
                <a:ea typeface="Roboto Light" panose="02000000000000000000" pitchFamily="2" charset="0"/>
              </a:rPr>
              <a:t>Trial store 88 had increase as well but not as good as stores 77 and 86.</a:t>
            </a:r>
          </a:p>
          <a:p>
            <a:endParaRPr lang="en-AU" sz="12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0"/>
            <a:ext cx="10479600" cy="5726203"/>
          </a:xfrm>
        </p:spPr>
        <p:txBody>
          <a:bodyPr/>
          <a:lstStyle/>
          <a:p>
            <a:pPr marL="342900" indent="-342900" algn="just">
              <a:buFont typeface="Arial" panose="020B0604020202020204" pitchFamily="34" charset="0"/>
              <a:buChar char="•"/>
            </a:pPr>
            <a:r>
              <a:rPr lang="en-AU" sz="2000" dirty="0"/>
              <a:t>The day with no transaction is a Christmas day that is when the store is closed hence there is a dip in sales on 25</a:t>
            </a:r>
            <a:r>
              <a:rPr lang="en-AU" sz="2000" baseline="30000" dirty="0"/>
              <a:t>th</a:t>
            </a:r>
            <a:r>
              <a:rPr lang="en-AU" sz="2000" dirty="0"/>
              <a:t> December as shops were non-operational. </a:t>
            </a:r>
          </a:p>
          <a:p>
            <a:pPr marL="342900" indent="-342900" algn="just">
              <a:buFont typeface="Arial" panose="020B0604020202020204" pitchFamily="34" charset="0"/>
              <a:buChar char="•"/>
            </a:pPr>
            <a:r>
              <a:rPr lang="en-AU" sz="2000" dirty="0"/>
              <a:t>Sales increase steadily as the Christmas day approaches and return again to early December sales level during New Year Eve.</a:t>
            </a:r>
          </a:p>
          <a:p>
            <a:endParaRPr lang="en-AU" dirty="0"/>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pic>
        <p:nvPicPr>
          <p:cNvPr id="3" name="Picture 2">
            <a:extLst>
              <a:ext uri="{FF2B5EF4-FFF2-40B4-BE49-F238E27FC236}">
                <a16:creationId xmlns:a16="http://schemas.microsoft.com/office/drawing/2014/main" id="{107B4049-46B9-ACC7-A67F-12F4E357E2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003" y="2824903"/>
            <a:ext cx="11137414" cy="2889510"/>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1"/>
            <a:ext cx="10479600" cy="5460732"/>
          </a:xfrm>
        </p:spPr>
        <p:txBody>
          <a:bodyPr/>
          <a:lstStyle/>
          <a:p>
            <a:pPr marL="342900" indent="-342900" algn="just">
              <a:buFont typeface="Arial" panose="020B0604020202020204" pitchFamily="34" charset="0"/>
              <a:buChar char="•"/>
            </a:pPr>
            <a:r>
              <a:rPr lang="en-US" dirty="0"/>
              <a:t>Sales mainly came from Budget - older families, Mainstream - young singles/couples, and Mainstream - retirees. In total contributing 25% of sales revenue. </a:t>
            </a:r>
          </a:p>
          <a:p>
            <a:pPr marL="342900" indent="-342900" algn="just">
              <a:buFont typeface="Arial" panose="020B0604020202020204" pitchFamily="34" charset="0"/>
              <a:buChar char="•"/>
            </a:pPr>
            <a:r>
              <a:rPr lang="en-US" dirty="0"/>
              <a:t>Older and Young Family segment have the highest average purchase units per unique customer</a:t>
            </a:r>
            <a:endParaRPr lang="en-IN" dirty="0"/>
          </a:p>
          <a:p>
            <a:endParaRPr lang="en-AU" dirty="0"/>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5" name="Picture 4">
            <a:extLst>
              <a:ext uri="{FF2B5EF4-FFF2-40B4-BE49-F238E27FC236}">
                <a16:creationId xmlns:a16="http://schemas.microsoft.com/office/drawing/2014/main" id="{79FB71C2-91E6-7CC4-5CFD-3C24376182AA}"/>
              </a:ext>
            </a:extLst>
          </p:cNvPr>
          <p:cNvPicPr>
            <a:picLocks noChangeAspect="1"/>
          </p:cNvPicPr>
          <p:nvPr/>
        </p:nvPicPr>
        <p:blipFill>
          <a:blip r:embed="rId3"/>
          <a:stretch>
            <a:fillRect/>
          </a:stretch>
        </p:blipFill>
        <p:spPr>
          <a:xfrm>
            <a:off x="1080095" y="2792048"/>
            <a:ext cx="10713360" cy="2841835"/>
          </a:xfrm>
          <a:prstGeom prst="rect">
            <a:avLst/>
          </a:prstGeom>
        </p:spPr>
      </p:pic>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1"/>
            <a:ext cx="10479600" cy="5991674"/>
          </a:xfrm>
        </p:spPr>
        <p:txBody>
          <a:bodyPr/>
          <a:lstStyle/>
          <a:p>
            <a:r>
              <a:rPr lang="en-US" sz="1200" b="1" dirty="0"/>
              <a:t>Consistent Pricing Across Groups</a:t>
            </a:r>
            <a:endParaRPr lang="en-US" sz="1200" dirty="0"/>
          </a:p>
          <a:p>
            <a:pPr marL="742950" lvl="1" indent="-285750">
              <a:buFont typeface="+mj-lt"/>
              <a:buAutoNum type="arabicPeriod"/>
            </a:pPr>
            <a:r>
              <a:rPr lang="en-US" sz="1200" dirty="0"/>
              <a:t>The unit prices for Budget, Mainstream, and Premium categories remain relatively stable across different consumer groups.</a:t>
            </a:r>
          </a:p>
          <a:p>
            <a:pPr marL="742950" lvl="1" indent="-285750">
              <a:buFont typeface="+mj-lt"/>
              <a:buAutoNum type="arabicPeriod"/>
            </a:pPr>
            <a:r>
              <a:rPr lang="en-US" sz="1200" dirty="0"/>
              <a:t>There is no significant deviation in pricing between family types, indicating uniform pricing strategies.</a:t>
            </a:r>
          </a:p>
          <a:p>
            <a:r>
              <a:rPr lang="en-US" sz="1200" dirty="0"/>
              <a:t>e key observations from the graph:</a:t>
            </a:r>
          </a:p>
          <a:p>
            <a:pPr>
              <a:buFont typeface="+mj-lt"/>
              <a:buAutoNum type="arabicPeriod"/>
            </a:pPr>
            <a:r>
              <a:rPr lang="en-US" sz="1200" b="1" dirty="0"/>
              <a:t>Higher Pricing for Young Singles/Couples and Mid age Singles/Couples</a:t>
            </a:r>
            <a:endParaRPr lang="en-US" sz="1200" dirty="0"/>
          </a:p>
          <a:p>
            <a:pPr marL="742950" lvl="1" indent="-285750">
              <a:buFont typeface="+mj-lt"/>
              <a:buAutoNum type="arabicPeriod"/>
            </a:pPr>
            <a:r>
              <a:rPr lang="en-US" sz="1200" dirty="0"/>
              <a:t>The </a:t>
            </a:r>
            <a:r>
              <a:rPr lang="en-US" sz="1200" b="1" dirty="0"/>
              <a:t>Young Singles/Couples</a:t>
            </a:r>
            <a:r>
              <a:rPr lang="en-US" sz="1200" dirty="0"/>
              <a:t> and </a:t>
            </a:r>
            <a:r>
              <a:rPr lang="en-US" sz="1200" b="1" dirty="0"/>
              <a:t>Mid age Singles/Couples</a:t>
            </a:r>
            <a:r>
              <a:rPr lang="en-US" sz="1200" dirty="0"/>
              <a:t> segments show slightly higher unit prices, particularly in the </a:t>
            </a:r>
            <a:r>
              <a:rPr lang="en-US" sz="1200" b="1" dirty="0"/>
              <a:t>Budget and Mainstream</a:t>
            </a:r>
            <a:r>
              <a:rPr lang="en-US" sz="1200" dirty="0"/>
              <a:t> categories.</a:t>
            </a:r>
          </a:p>
          <a:p>
            <a:pPr marL="742950" lvl="1" indent="-285750">
              <a:buFont typeface="+mj-lt"/>
              <a:buAutoNum type="arabicPeriod"/>
            </a:pPr>
            <a:r>
              <a:rPr lang="en-US" sz="1200" dirty="0"/>
              <a:t>This suggests that these demographics might have a higher spending tendency on these products.</a:t>
            </a:r>
          </a:p>
          <a:p>
            <a:pPr>
              <a:buFont typeface="+mj-lt"/>
              <a:buAutoNum type="arabicPeriod"/>
            </a:pPr>
            <a:r>
              <a:rPr lang="en-US" sz="1200" b="1" dirty="0"/>
              <a:t>Minimal Price Variation Between Categories</a:t>
            </a:r>
            <a:endParaRPr lang="en-US" sz="1200" dirty="0"/>
          </a:p>
          <a:p>
            <a:pPr marL="742950" lvl="1" indent="-285750">
              <a:buFont typeface="+mj-lt"/>
              <a:buAutoNum type="arabicPeriod"/>
            </a:pPr>
            <a:r>
              <a:rPr lang="en-US" sz="1200" dirty="0"/>
              <a:t>The differences between Budget, Mainstream, and Premium pricing within each group are marginal.</a:t>
            </a:r>
          </a:p>
          <a:p>
            <a:pPr marL="742950" lvl="1" indent="-285750">
              <a:buFont typeface="+mj-lt"/>
              <a:buAutoNum type="arabicPeriod"/>
            </a:pPr>
            <a:r>
              <a:rPr lang="en-US" sz="1200" dirty="0"/>
              <a:t>This indicates a close competition between the three pricing segments.</a:t>
            </a:r>
          </a:p>
          <a:p>
            <a:pPr>
              <a:buFont typeface="+mj-lt"/>
              <a:buAutoNum type="arabicPeriod"/>
            </a:pPr>
            <a:r>
              <a:rPr lang="en-US" sz="1200" b="1" dirty="0"/>
              <a:t>Lower Unit Price for Older Families and Young Families</a:t>
            </a:r>
            <a:endParaRPr lang="en-US" sz="1200" dirty="0"/>
          </a:p>
          <a:p>
            <a:pPr marL="742950" lvl="1" indent="-285750">
              <a:buFont typeface="+mj-lt"/>
              <a:buAutoNum type="arabicPeriod"/>
            </a:pPr>
            <a:r>
              <a:rPr lang="en-US" sz="1200" dirty="0"/>
              <a:t>Older Families and Young Families have slightly lower unit prices, suggesting possible pricing strategies targeting family-based affordability.</a:t>
            </a:r>
          </a:p>
          <a:p>
            <a:endParaRPr lang="en-AU" dirty="0"/>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6" name="Picture 5">
            <a:extLst>
              <a:ext uri="{FF2B5EF4-FFF2-40B4-BE49-F238E27FC236}">
                <a16:creationId xmlns:a16="http://schemas.microsoft.com/office/drawing/2014/main" id="{695F262C-635A-D1E2-0EE1-4F5E6E781410}"/>
              </a:ext>
            </a:extLst>
          </p:cNvPr>
          <p:cNvPicPr>
            <a:picLocks noChangeAspect="1"/>
          </p:cNvPicPr>
          <p:nvPr/>
        </p:nvPicPr>
        <p:blipFill>
          <a:blip r:embed="rId3"/>
          <a:stretch>
            <a:fillRect/>
          </a:stretch>
        </p:blipFill>
        <p:spPr>
          <a:xfrm>
            <a:off x="1553822" y="3772216"/>
            <a:ext cx="10122753" cy="2849810"/>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4" y="453370"/>
            <a:ext cx="10749219" cy="5622965"/>
          </a:xfrm>
        </p:spPr>
        <p:txBody>
          <a:bodyPr/>
          <a:lstStyle/>
          <a:p>
            <a:r>
              <a:rPr lang="en-US" sz="1400" b="1" dirty="0"/>
              <a:t>Trial Store Sales Analysis</a:t>
            </a:r>
          </a:p>
          <a:p>
            <a:pPr>
              <a:buFont typeface="Arial" panose="020B0604020202020204" pitchFamily="34" charset="0"/>
              <a:buChar char="•"/>
            </a:pPr>
            <a:r>
              <a:rPr lang="en-US" sz="1400" b="1" dirty="0"/>
              <a:t>Store 77</a:t>
            </a:r>
            <a:endParaRPr lang="en-US" sz="1400" dirty="0"/>
          </a:p>
          <a:p>
            <a:pPr marL="742950" lvl="1" indent="-285750">
              <a:buFont typeface="Arial" panose="020B0604020202020204" pitchFamily="34" charset="0"/>
              <a:buChar char="•"/>
            </a:pPr>
            <a:r>
              <a:rPr lang="en-US" sz="1400" dirty="0"/>
              <a:t>Total Sales: </a:t>
            </a:r>
            <a:r>
              <a:rPr lang="en-US" sz="1400" b="1" dirty="0"/>
              <a:t>$3,040.00</a:t>
            </a:r>
            <a:endParaRPr lang="en-US" sz="1400" dirty="0"/>
          </a:p>
          <a:p>
            <a:pPr marL="742950" lvl="1" indent="-285750">
              <a:buFont typeface="Arial" panose="020B0604020202020204" pitchFamily="34" charset="0"/>
              <a:buChar char="•"/>
            </a:pPr>
            <a:r>
              <a:rPr lang="en-US" sz="1400" dirty="0"/>
              <a:t>Identified control store based on sales similarity and correlation.</a:t>
            </a:r>
          </a:p>
          <a:p>
            <a:pPr marL="742950" lvl="1" indent="-285750">
              <a:buFont typeface="Arial" panose="020B0604020202020204" pitchFamily="34" charset="0"/>
              <a:buChar char="•"/>
            </a:pPr>
            <a:r>
              <a:rPr lang="en-US" sz="1400" dirty="0"/>
              <a:t>Sales pattern shows fluctuations, requiring validation against control store performance.</a:t>
            </a:r>
          </a:p>
          <a:p>
            <a:pPr>
              <a:buFont typeface="Arial" panose="020B0604020202020204" pitchFamily="34" charset="0"/>
              <a:buChar char="•"/>
            </a:pPr>
            <a:r>
              <a:rPr lang="en-US" sz="1400" b="1" dirty="0"/>
              <a:t>Store 86</a:t>
            </a:r>
            <a:endParaRPr lang="en-US" sz="1400" dirty="0"/>
          </a:p>
          <a:p>
            <a:pPr marL="742950" lvl="1" indent="-285750">
              <a:buFont typeface="Arial" panose="020B0604020202020204" pitchFamily="34" charset="0"/>
              <a:buChar char="•"/>
            </a:pPr>
            <a:r>
              <a:rPr lang="en-US" sz="1400" dirty="0"/>
              <a:t>Total Sales: </a:t>
            </a:r>
            <a:r>
              <a:rPr lang="en-US" sz="1400" b="1" dirty="0"/>
              <a:t>$10,635.35</a:t>
            </a:r>
            <a:endParaRPr lang="en-US" sz="1400" dirty="0"/>
          </a:p>
          <a:p>
            <a:pPr marL="742950" lvl="1" indent="-285750">
              <a:buFont typeface="Arial" panose="020B0604020202020204" pitchFamily="34" charset="0"/>
              <a:buChar char="•"/>
            </a:pPr>
            <a:r>
              <a:rPr lang="en-US" sz="1400" dirty="0"/>
              <a:t>Shows a higher total sales volume compared to Store 77.</a:t>
            </a:r>
          </a:p>
          <a:p>
            <a:pPr marL="742950" lvl="1" indent="-285750">
              <a:buFont typeface="Arial" panose="020B0604020202020204" pitchFamily="34" charset="0"/>
              <a:buChar char="•"/>
            </a:pPr>
            <a:r>
              <a:rPr lang="en-US" sz="1400" dirty="0"/>
              <a:t>Control store selection ensured alignment in sales trends before and after the trial period.</a:t>
            </a:r>
          </a:p>
          <a:p>
            <a:pPr>
              <a:buFont typeface="Arial" panose="020B0604020202020204" pitchFamily="34" charset="0"/>
              <a:buChar char="•"/>
            </a:pPr>
            <a:r>
              <a:rPr lang="en-US" sz="1400" b="1" dirty="0"/>
              <a:t>Store 88</a:t>
            </a:r>
            <a:endParaRPr lang="en-US" sz="1400" dirty="0"/>
          </a:p>
          <a:p>
            <a:pPr marL="742950" lvl="1" indent="-285750">
              <a:buFont typeface="Arial" panose="020B0604020202020204" pitchFamily="34" charset="0"/>
              <a:buChar char="•"/>
            </a:pPr>
            <a:r>
              <a:rPr lang="en-US" sz="1400" dirty="0"/>
              <a:t>Total Sales: </a:t>
            </a:r>
            <a:r>
              <a:rPr lang="en-US" sz="1400" b="1" dirty="0"/>
              <a:t>$16,333.25</a:t>
            </a:r>
            <a:endParaRPr lang="en-US" sz="1400" dirty="0"/>
          </a:p>
          <a:p>
            <a:pPr marL="742950" lvl="1" indent="-285750">
              <a:buFont typeface="Arial" panose="020B0604020202020204" pitchFamily="34" charset="0"/>
              <a:buChar char="•"/>
            </a:pPr>
            <a:r>
              <a:rPr lang="en-US" sz="1400" dirty="0"/>
              <a:t>Highest sales among trial stores.</a:t>
            </a:r>
          </a:p>
          <a:p>
            <a:pPr marL="742950" lvl="1" indent="-285750">
              <a:buFont typeface="Arial" panose="020B0604020202020204" pitchFamily="34" charset="0"/>
              <a:buChar char="•"/>
            </a:pPr>
            <a:r>
              <a:rPr lang="en-US" sz="1400" dirty="0"/>
              <a:t>Further analysis needed to assess the impact of external factors.</a:t>
            </a:r>
          </a:p>
          <a:p>
            <a:r>
              <a:rPr lang="en-US" sz="1400" b="1" dirty="0"/>
              <a:t>Control Store Selection &amp; Analysis</a:t>
            </a:r>
          </a:p>
          <a:p>
            <a:pPr>
              <a:buFont typeface="Arial" panose="020B0604020202020204" pitchFamily="34" charset="0"/>
              <a:buChar char="•"/>
            </a:pPr>
            <a:r>
              <a:rPr lang="en-US" sz="1400" b="1" dirty="0"/>
              <a:t>Matching Control Stores</a:t>
            </a:r>
            <a:endParaRPr lang="en-US" sz="1400" dirty="0"/>
          </a:p>
          <a:p>
            <a:pPr marL="742950" lvl="1" indent="-285750">
              <a:buFont typeface="Arial" panose="020B0604020202020204" pitchFamily="34" charset="0"/>
              <a:buChar char="•"/>
            </a:pPr>
            <a:r>
              <a:rPr lang="en-US" sz="1400" dirty="0"/>
              <a:t>Used </a:t>
            </a:r>
            <a:r>
              <a:rPr lang="en-US" sz="1400" b="1" dirty="0"/>
              <a:t>total sales comparison</a:t>
            </a:r>
            <a:r>
              <a:rPr lang="en-US" sz="1400" dirty="0"/>
              <a:t> and </a:t>
            </a:r>
            <a:r>
              <a:rPr lang="en-US" sz="1400" b="1" dirty="0"/>
              <a:t>Pearson correlation test</a:t>
            </a:r>
            <a:r>
              <a:rPr lang="en-US" sz="1400" dirty="0"/>
              <a:t> to find the best match.</a:t>
            </a:r>
          </a:p>
          <a:p>
            <a:pPr marL="742950" lvl="1" indent="-285750">
              <a:buFont typeface="Arial" panose="020B0604020202020204" pitchFamily="34" charset="0"/>
              <a:buChar char="•"/>
            </a:pPr>
            <a:r>
              <a:rPr lang="en-US" sz="1400" dirty="0"/>
              <a:t>Ensured minimal variance in pre-trial sales patterns.</a:t>
            </a:r>
          </a:p>
          <a:p>
            <a:pPr>
              <a:buFont typeface="Arial" panose="020B0604020202020204" pitchFamily="34" charset="0"/>
              <a:buChar char="•"/>
            </a:pPr>
            <a:r>
              <a:rPr lang="en-US" sz="1400" b="1" dirty="0"/>
              <a:t>Sales Trend Comparison</a:t>
            </a:r>
            <a:endParaRPr lang="en-US" sz="1400" dirty="0"/>
          </a:p>
          <a:p>
            <a:pPr marL="742950" lvl="1" indent="-285750">
              <a:buFont typeface="Arial" panose="020B0604020202020204" pitchFamily="34" charset="0"/>
              <a:buChar char="•"/>
            </a:pPr>
            <a:r>
              <a:rPr lang="en-US" sz="1400" dirty="0"/>
              <a:t>Trial stores’ performance will be assessed against control stores post-trial.</a:t>
            </a:r>
          </a:p>
          <a:p>
            <a:pPr marL="742950" lvl="1" indent="-285750">
              <a:buFont typeface="Arial" panose="020B0604020202020204" pitchFamily="34" charset="0"/>
              <a:buChar char="•"/>
            </a:pPr>
            <a:r>
              <a:rPr lang="en-US" sz="1400" dirty="0"/>
              <a:t>Helps determine if sales changes are due to external factors or the applied strategies.</a:t>
            </a:r>
          </a:p>
          <a:p>
            <a:pPr marL="742950" lvl="1" indent="-285750">
              <a:buFont typeface="Arial" panose="020B0604020202020204" pitchFamily="34" charset="0"/>
              <a:buChar char="•"/>
            </a:pPr>
            <a:endParaRPr lang="en-US" sz="1600" dirty="0"/>
          </a:p>
          <a:p>
            <a:endParaRPr lang="en-AU" dirty="0"/>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0"/>
            <a:ext cx="10479600" cy="5563971"/>
          </a:xfrm>
        </p:spPr>
        <p:txBody>
          <a:bodyPr/>
          <a:lstStyle/>
          <a:p>
            <a:r>
              <a:rPr lang="en-AU" dirty="0"/>
              <a:t> </a:t>
            </a: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5" name="Picture 4">
            <a:extLst>
              <a:ext uri="{FF2B5EF4-FFF2-40B4-BE49-F238E27FC236}">
                <a16:creationId xmlns:a16="http://schemas.microsoft.com/office/drawing/2014/main" id="{B58159C8-FB96-FA52-3F3A-54DC9F319C19}"/>
              </a:ext>
            </a:extLst>
          </p:cNvPr>
          <p:cNvPicPr>
            <a:picLocks noChangeAspect="1"/>
          </p:cNvPicPr>
          <p:nvPr/>
        </p:nvPicPr>
        <p:blipFill>
          <a:blip r:embed="rId3"/>
          <a:stretch>
            <a:fillRect/>
          </a:stretch>
        </p:blipFill>
        <p:spPr>
          <a:xfrm>
            <a:off x="2600928" y="3044523"/>
            <a:ext cx="4023265" cy="2854831"/>
          </a:xfrm>
          <a:prstGeom prst="rect">
            <a:avLst/>
          </a:prstGeom>
        </p:spPr>
      </p:pic>
      <p:pic>
        <p:nvPicPr>
          <p:cNvPr id="7" name="Picture 6">
            <a:extLst>
              <a:ext uri="{FF2B5EF4-FFF2-40B4-BE49-F238E27FC236}">
                <a16:creationId xmlns:a16="http://schemas.microsoft.com/office/drawing/2014/main" id="{1B0F3B8B-11A4-FE1A-CE84-BFBDB9283B41}"/>
              </a:ext>
            </a:extLst>
          </p:cNvPr>
          <p:cNvPicPr>
            <a:picLocks noChangeAspect="1"/>
          </p:cNvPicPr>
          <p:nvPr/>
        </p:nvPicPr>
        <p:blipFill>
          <a:blip r:embed="rId4"/>
          <a:stretch>
            <a:fillRect/>
          </a:stretch>
        </p:blipFill>
        <p:spPr>
          <a:xfrm>
            <a:off x="6939326" y="2909872"/>
            <a:ext cx="4023265" cy="3415318"/>
          </a:xfrm>
          <a:prstGeom prst="rect">
            <a:avLst/>
          </a:prstGeom>
        </p:spPr>
      </p:pic>
      <p:pic>
        <p:nvPicPr>
          <p:cNvPr id="8" name="Picture 7">
            <a:extLst>
              <a:ext uri="{FF2B5EF4-FFF2-40B4-BE49-F238E27FC236}">
                <a16:creationId xmlns:a16="http://schemas.microsoft.com/office/drawing/2014/main" id="{2619318D-AA51-32C5-9A9A-8ED33CCBCB06}"/>
              </a:ext>
            </a:extLst>
          </p:cNvPr>
          <p:cNvPicPr>
            <a:picLocks noChangeAspect="1"/>
          </p:cNvPicPr>
          <p:nvPr/>
        </p:nvPicPr>
        <p:blipFill>
          <a:blip r:embed="rId5"/>
          <a:stretch>
            <a:fillRect/>
          </a:stretch>
        </p:blipFill>
        <p:spPr>
          <a:xfrm>
            <a:off x="1391561" y="302680"/>
            <a:ext cx="3411395" cy="2421669"/>
          </a:xfrm>
          <a:prstGeom prst="rect">
            <a:avLst/>
          </a:prstGeom>
        </p:spPr>
      </p:pic>
      <p:pic>
        <p:nvPicPr>
          <p:cNvPr id="9" name="Picture 8">
            <a:extLst>
              <a:ext uri="{FF2B5EF4-FFF2-40B4-BE49-F238E27FC236}">
                <a16:creationId xmlns:a16="http://schemas.microsoft.com/office/drawing/2014/main" id="{84810071-3555-B854-88A4-9E11996E0E04}"/>
              </a:ext>
            </a:extLst>
          </p:cNvPr>
          <p:cNvPicPr>
            <a:picLocks noChangeAspect="1"/>
          </p:cNvPicPr>
          <p:nvPr/>
        </p:nvPicPr>
        <p:blipFill>
          <a:blip r:embed="rId6"/>
          <a:stretch>
            <a:fillRect/>
          </a:stretch>
        </p:blipFill>
        <p:spPr>
          <a:xfrm>
            <a:off x="4802956" y="217937"/>
            <a:ext cx="3569556" cy="2591154"/>
          </a:xfrm>
          <a:prstGeom prst="rect">
            <a:avLst/>
          </a:prstGeom>
        </p:spPr>
      </p:pic>
      <p:pic>
        <p:nvPicPr>
          <p:cNvPr id="10" name="Picture 9">
            <a:extLst>
              <a:ext uri="{FF2B5EF4-FFF2-40B4-BE49-F238E27FC236}">
                <a16:creationId xmlns:a16="http://schemas.microsoft.com/office/drawing/2014/main" id="{38BDB406-61CB-63EF-F574-ABFDCD783BD1}"/>
              </a:ext>
            </a:extLst>
          </p:cNvPr>
          <p:cNvPicPr>
            <a:picLocks noChangeAspect="1"/>
          </p:cNvPicPr>
          <p:nvPr/>
        </p:nvPicPr>
        <p:blipFill>
          <a:blip r:embed="rId7"/>
          <a:stretch>
            <a:fillRect/>
          </a:stretch>
        </p:blipFill>
        <p:spPr>
          <a:xfrm>
            <a:off x="8239210" y="133195"/>
            <a:ext cx="3631951" cy="2591154"/>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6353</TotalTime>
  <Words>851</Words>
  <Application>Microsoft Office PowerPoint</Application>
  <PresentationFormat>Widescreen</PresentationFormat>
  <Paragraphs>74</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Roboto Medium</vt:lpstr>
      <vt:lpstr>Roboto</vt:lpstr>
      <vt:lpstr>Roboto Light</vt:lpstr>
      <vt:lpstr>Arial</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BIDYASHREE NAYAK</cp:lastModifiedBy>
  <cp:revision>465</cp:revision>
  <dcterms:created xsi:type="dcterms:W3CDTF">2018-02-07T23:23:24Z</dcterms:created>
  <dcterms:modified xsi:type="dcterms:W3CDTF">2025-02-12T09:23:22Z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